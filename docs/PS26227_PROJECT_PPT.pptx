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PS26227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Semantic Retrieval and Multi-Temporal Change Analysis of Satellite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From Satellite Pixels to Searchable Change Intelligence</a:t>
            </a:r>
          </a:p>
          <a:p>
            <a:r>
              <a:rPr sz="1800">
                <a:solidFill>
                  <a:srgbClr val="E0EAF0"/>
                </a:solidFill>
              </a:rPr>
              <a:t>A project that turns multi-temporal satellite imagery into evidence-based, semantically searchable change regions.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Manual interpretation of large multi-date imagery is slow and difficult.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332720" cy="3840480"/>
          </a:xfrm>
          <a:prstGeom prst="rect">
            <a:avLst/>
          </a:prstGeom>
          <a:solidFill>
            <a:srgbClr val="111F2B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0160" y="2011680"/>
            <a:ext cx="3749039" cy="2011680"/>
          </a:xfrm>
          <a:prstGeom prst="rect">
            <a:avLst/>
          </a:prstGeom>
          <a:solidFill>
            <a:srgbClr val="0E1823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June 2023</a:t>
            </a:r>
          </a:p>
          <a:p>
            <a:r>
              <a:rPr sz="1200">
                <a:solidFill>
                  <a:srgbClr val="E0EAF0"/>
                </a:solidFill>
              </a:rPr>
              <a:t>Reference observation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2011680"/>
            <a:ext cx="3749039" cy="2011680"/>
          </a:xfrm>
          <a:prstGeom prst="rect">
            <a:avLst/>
          </a:prstGeom>
          <a:solidFill>
            <a:srgbClr val="0E1823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June 2024</a:t>
            </a:r>
          </a:p>
          <a:p>
            <a:r>
              <a:rPr sz="1200">
                <a:solidFill>
                  <a:srgbClr val="E0EAF0"/>
                </a:solidFill>
              </a:rPr>
              <a:t>Current observation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035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How can we detect meaningful changes and search for them using natural language?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Satellite imagery to searchable change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1463040" cy="1005840"/>
          </a:xfrm>
          <a:prstGeom prst="rect">
            <a:avLst/>
          </a:prstGeom>
          <a:solidFill>
            <a:srgbClr val="182936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Sentinel-2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2834640"/>
            <a:ext cx="274320" cy="137160"/>
          </a:xfrm>
          <a:prstGeom prst="rect">
            <a:avLst/>
          </a:prstGeom>
          <a:solidFill>
            <a:srgbClr val="7ED3FF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2377440"/>
            <a:ext cx="1463040" cy="1005840"/>
          </a:xfrm>
          <a:prstGeom prst="rect">
            <a:avLst/>
          </a:prstGeom>
          <a:solidFill>
            <a:srgbClr val="182936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Quality-Aware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834640"/>
            <a:ext cx="274320" cy="137160"/>
          </a:xfrm>
          <a:prstGeom prst="rect">
            <a:avLst/>
          </a:prstGeom>
          <a:solidFill>
            <a:srgbClr val="7ED3FF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46320" y="2377440"/>
            <a:ext cx="1463040" cy="1005840"/>
          </a:xfrm>
          <a:prstGeom prst="rect">
            <a:avLst/>
          </a:prstGeom>
          <a:solidFill>
            <a:srgbClr val="182936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Change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834640"/>
            <a:ext cx="274320" cy="137160"/>
          </a:xfrm>
          <a:prstGeom prst="rect">
            <a:avLst/>
          </a:prstGeom>
          <a:solidFill>
            <a:srgbClr val="7ED3FF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2377440"/>
            <a:ext cx="1463040" cy="1005840"/>
          </a:xfrm>
          <a:prstGeom prst="rect">
            <a:avLst/>
          </a:prstGeom>
          <a:solidFill>
            <a:srgbClr val="182936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Change Regions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80" y="2834640"/>
            <a:ext cx="274320" cy="137160"/>
          </a:xfrm>
          <a:prstGeom prst="rect">
            <a:avLst/>
          </a:prstGeom>
          <a:solidFill>
            <a:srgbClr val="7ED3FF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2377440"/>
            <a:ext cx="1463040" cy="1005840"/>
          </a:xfrm>
          <a:prstGeom prst="rect">
            <a:avLst/>
          </a:prstGeom>
          <a:solidFill>
            <a:srgbClr val="182936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Semantic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0EAF0"/>
                </a:solidFill>
              </a:rPr>
              <a:t>The system analyzes real Sentinel-2 imagery, filters unreliable pixels, detects spectral differences, groups evidence into regions, and enables natural-language retrieval over the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Real Sentinel-2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Reference and moving imagery from the same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4389120" cy="3108960"/>
          </a:xfrm>
          <a:prstGeom prst="rect">
            <a:avLst/>
          </a:prstGeom>
          <a:solidFill>
            <a:srgbClr val="1B2C3D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/>
              <a:t>Reference Image</a:t>
            </a:r>
          </a:p>
          <a:p>
            <a:r>
              <a:t>2023-06-05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4389120" cy="3108960"/>
          </a:xfrm>
          <a:prstGeom prst="rect">
            <a:avLst/>
          </a:prstGeom>
          <a:solidFill>
            <a:srgbClr val="1B2C3D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/>
              <a:t>Moving Image</a:t>
            </a:r>
          </a:p>
          <a:p>
            <a:r>
              <a:t>2024-06-26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21208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0EAF0"/>
                </a:solidFill>
              </a:rPr>
              <a:t>Sentinel-2 | Same Area of Interest | EPSG:32633 | 10 m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Quality-Aware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Reliable observations 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6766560" cy="3474720"/>
          </a:xfrm>
          <a:prstGeom prst="rect">
            <a:avLst/>
          </a:prstGeom>
          <a:solidFill>
            <a:srgbClr val="0F1B27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2011680"/>
            <a:ext cx="2651760" cy="2377440"/>
          </a:xfrm>
          <a:prstGeom prst="rect">
            <a:avLst/>
          </a:prstGeom>
          <a:solidFill>
            <a:srgbClr val="111C25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</a:rPr>
              <a:t>Valid pixels</a:t>
            </a:r>
          </a:p>
          <a:p>
            <a:r>
              <a:rPr sz="1400">
                <a:solidFill>
                  <a:srgbClr val="FFFFFF"/>
                </a:solidFill>
              </a:rPr>
              <a:t>Cloud pixels</a:t>
            </a:r>
          </a:p>
          <a:p>
            <a:r>
              <a:rPr sz="1400">
                <a:solidFill>
                  <a:srgbClr val="FFFFFF"/>
                </a:solidFill>
              </a:rPr>
              <a:t>No-data pixels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0EAF0"/>
                </a:solidFill>
              </a:rPr>
              <a:t>Only jointly valid pixels are used for reliable comparison. Joint Valid Pixel Fraction: 97.48%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Spectral evidence across multiple bands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3474720" cy="2468880"/>
          </a:xfrm>
          <a:prstGeom prst="rect">
            <a:avLst/>
          </a:prstGeom>
          <a:solidFill>
            <a:srgbClr val="142B38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/>
              <a:t>Reference</a:t>
            </a:r>
          </a:p>
          <a:p>
            <a:r>
              <a:t>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645920"/>
            <a:ext cx="3474720" cy="2468880"/>
          </a:xfrm>
          <a:prstGeom prst="rect">
            <a:avLst/>
          </a:prstGeom>
          <a:solidFill>
            <a:srgbClr val="142B38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/>
              <a:t>Moving</a:t>
            </a:r>
          </a:p>
          <a:p>
            <a:r>
              <a:t>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291840" cy="2468880"/>
          </a:xfrm>
          <a:prstGeom prst="rect">
            <a:avLst/>
          </a:prstGeom>
          <a:solidFill>
            <a:srgbClr val="2F2014"/>
          </a:solidFill>
          <a:ln>
            <a:solidFill>
              <a:srgbClr val="F5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/>
              <a:t>Change</a:t>
            </a:r>
          </a:p>
          <a:p>
            <a:r>
              <a:t>Magnitude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0EAF0"/>
                </a:solidFill>
              </a:rPr>
              <a:t>Blue | Green | Red | Near Infrared | SWIR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5B050"/>
                </a:solidFill>
              </a:rPr>
              <a:t>Detected change represents spectral change evidence, not automatically verified real-world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Change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Pixels grouped into meaningful spatial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6035040" cy="3657600"/>
          </a:xfrm>
          <a:prstGeom prst="rect">
            <a:avLst/>
          </a:prstGeom>
          <a:solidFill>
            <a:srgbClr val="121F2C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/>
              <a:t>Change mask and connected regions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920240"/>
            <a:ext cx="3291840" cy="640080"/>
          </a:xfrm>
          <a:prstGeom prst="rect">
            <a:avLst/>
          </a:prstGeom>
          <a:solidFill>
            <a:srgbClr val="172835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Region 0001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2743200"/>
            <a:ext cx="3291840" cy="640080"/>
          </a:xfrm>
          <a:prstGeom prst="rect">
            <a:avLst/>
          </a:prstGeom>
          <a:solidFill>
            <a:srgbClr val="172835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Region 0112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3566160"/>
            <a:ext cx="3291840" cy="640080"/>
          </a:xfrm>
          <a:prstGeom prst="rect">
            <a:avLst/>
          </a:prstGeom>
          <a:solidFill>
            <a:srgbClr val="172835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/>
              <a:t>Region 0120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0EAF0"/>
                </a:solidFill>
              </a:rPr>
              <a:t>132 Retained Change Regions | Area | Pixel Count | Change Magnitude | Spectral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Natural-Language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The main live demo moment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7132320" cy="1005840"/>
          </a:xfrm>
          <a:prstGeom prst="rect">
            <a:avLst/>
          </a:prstGeom>
          <a:solidFill>
            <a:srgbClr val="101E27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/>
              <a:t>Find regions with strong vegetation-related spectral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5120640" cy="2560320"/>
          </a:xfrm>
          <a:prstGeom prst="rect">
            <a:avLst/>
          </a:prstGeom>
          <a:solidFill>
            <a:srgbClr val="111E29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1. region_0112</a:t>
            </a:r>
          </a:p>
          <a:p>
            <a:r>
              <a:rPr sz="1800">
                <a:solidFill>
                  <a:srgbClr val="FFFFFF"/>
                </a:solidFill>
              </a:rPr>
              <a:t>2. region_0001</a:t>
            </a:r>
          </a:p>
          <a:p>
            <a:r>
              <a:rPr sz="1800">
                <a:solidFill>
                  <a:srgbClr val="FFFFFF"/>
                </a:solidFill>
              </a:rPr>
              <a:t>3. region_0120</a:t>
            </a:r>
          </a:p>
          <a:p>
            <a:r>
              <a:rPr sz="1800">
                <a:solidFill>
                  <a:srgbClr val="FFFFFF"/>
                </a:solidFill>
              </a:rPr>
              <a:t>4. region_0101</a:t>
            </a:r>
          </a:p>
          <a:p>
            <a:r>
              <a:rPr sz="1800">
                <a:solidFill>
                  <a:srgbClr val="FFFFFF"/>
                </a:solidFill>
              </a:rPr>
              <a:t>5. region_0008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3017520"/>
            <a:ext cx="4114800" cy="2286000"/>
          </a:xfrm>
          <a:prstGeom prst="rect">
            <a:avLst/>
          </a:prstGeom>
          <a:solidFill>
            <a:srgbClr val="182834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/>
              <a:t>Retrieved regions</a:t>
            </a:r>
          </a:p>
          <a:p>
            <a:r>
              <a:t>map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E0EAF0"/>
                </a:solidFill>
              </a:rPr>
              <a:t>The system searches the region representations and returns the most semantically relevant matches.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Scientific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Traceable, measurable, and cautious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solidFill>
            <a:srgbClr val="121F2A"/>
          </a:solidFill>
          <a:ln>
            <a:solidFill>
              <a:srgbClr val="7E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Region ID: region_0112</a:t>
            </a:r>
          </a:p>
          <a:p>
            <a:r>
              <a:rPr sz="1800">
                <a:solidFill>
                  <a:srgbClr val="FFFFFF"/>
                </a:solidFill>
              </a:rPr>
              <a:t>Retrieval Rank: 1</a:t>
            </a:r>
          </a:p>
          <a:p>
            <a:r>
              <a:rPr sz="1800">
                <a:solidFill>
                  <a:srgbClr val="FFFFFF"/>
                </a:solidFill>
              </a:rPr>
              <a:t>Semantic Similarity Score: 0.893452</a:t>
            </a:r>
          </a:p>
          <a:p>
            <a:r>
              <a:rPr sz="1800">
                <a:solidFill>
                  <a:srgbClr val="FFFFFF"/>
                </a:solidFill>
              </a:rPr>
              <a:t>Area: 18,240 m²</a:t>
            </a:r>
          </a:p>
          <a:p>
            <a:r>
              <a:rPr sz="1800">
                <a:solidFill>
                  <a:srgbClr val="FFFFFF"/>
                </a:solidFill>
              </a:rPr>
              <a:t>Pixel Count: 4,182</a:t>
            </a:r>
          </a:p>
          <a:p>
            <a:r>
              <a:rPr sz="1800">
                <a:solidFill>
                  <a:srgbClr val="FFFFFF"/>
                </a:solidFill>
              </a:rPr>
              <a:t>Mean Change Magnitude: 0.72</a:t>
            </a:r>
          </a:p>
          <a:p>
            <a:r>
              <a:rPr sz="1800">
                <a:solidFill>
                  <a:srgbClr val="FFFFFF"/>
                </a:solidFill>
              </a:rPr>
              <a:t>Spectral Summary: vegetation-related band differences</a:t>
            </a:r>
          </a:p>
          <a:p>
            <a:r>
              <a:rPr sz="1800">
                <a:solidFill>
                  <a:srgbClr val="FFFFFF"/>
                </a:solidFill>
              </a:rPr>
              <a:t>Reference Date: 2023-06-05 | Moving Date: 2024-06-26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E0EAF0"/>
                </a:solidFill>
              </a:rPr>
              <a:t>This is a cautious spectral interpretation based on measured satellite evidence and region metadata.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Scientific Limitations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E0EAF0"/>
                </a:solidFill>
              </a:rPr>
              <a:t>Responsible, not over-claimed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45920"/>
            <a:ext cx="5303520" cy="3840480"/>
          </a:xfrm>
          <a:prstGeom prst="rect">
            <a:avLst/>
          </a:prstGeom>
          <a:solidFill>
            <a:srgbClr val="1A2832"/>
          </a:solidFill>
          <a:ln>
            <a:solidFill>
              <a:srgbClr val="C9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FFFFFF"/>
                </a:solidFill>
              </a:rPr>
              <a:t>Semantic retrieval is not ground-truth classification.</a:t>
            </a:r>
          </a:p>
          <a:p>
            <a:r>
              <a:rPr sz="1700">
                <a:solidFill>
                  <a:srgbClr val="FFFFFF"/>
                </a:solidFill>
              </a:rPr>
              <a:t>Retrieval similarity scores are not probabilities.</a:t>
            </a:r>
          </a:p>
          <a:p>
            <a:r>
              <a:rPr sz="1700">
                <a:solidFill>
                  <a:srgbClr val="FFFFFF"/>
                </a:solidFill>
              </a:rPr>
              <a:t>Spectral change does not automatically confirm a real-world event.</a:t>
            </a:r>
          </a:p>
          <a:p>
            <a:r>
              <a:rPr sz="1700">
                <a:solidFill>
                  <a:srgbClr val="FFFFFF"/>
                </a:solidFill>
              </a:rPr>
              <a:t>External ground-truth validation remains necessary.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389120" cy="3840480"/>
          </a:xfrm>
          <a:prstGeom prst="rect">
            <a:avLst/>
          </a:prstGeom>
          <a:solidFill>
            <a:srgbClr val="12252F"/>
          </a:solidFill>
          <a:ln>
            <a:solidFill>
              <a:srgbClr val="4AC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Satellite Images</a:t>
            </a:r>
          </a:p>
          <a:p>
            <a:r>
              <a:rPr sz="1600">
                <a:solidFill>
                  <a:srgbClr val="FFFFFF"/>
                </a:solidFill>
              </a:rPr>
              <a:t>Quality-Aware Processing</a:t>
            </a:r>
          </a:p>
          <a:p>
            <a:r>
              <a:rPr sz="1600">
                <a:solidFill>
                  <a:srgbClr val="FFFFFF"/>
                </a:solidFill>
              </a:rPr>
              <a:t>Change Detection</a:t>
            </a:r>
          </a:p>
          <a:p>
            <a:r>
              <a:rPr sz="1600">
                <a:solidFill>
                  <a:srgbClr val="FFFFFF"/>
                </a:solidFill>
              </a:rPr>
              <a:t>Spatial Regions</a:t>
            </a:r>
          </a:p>
          <a:p>
            <a:r>
              <a:rPr sz="1600">
                <a:solidFill>
                  <a:srgbClr val="FFFFFF"/>
                </a:solidFill>
              </a:rPr>
              <a:t>Semantic Search</a:t>
            </a:r>
          </a:p>
          <a:p>
            <a:r>
              <a:rPr sz="1600">
                <a:solidFill>
                  <a:srgbClr val="FFFFFF"/>
                </a:solidFill>
              </a:rPr>
              <a:t>Evidence-Based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0EAF0"/>
                </a:solidFill>
              </a:rPr>
              <a:t>This project converts multi-temporal satellite observations into structured, searchable, and evidence-based change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E0EAF0"/>
                </a:solidFill>
              </a:rPr>
              <a:t>PS26227 — Semantic Retrieval and Multi-Temporal Change Analysis of Satellite Imagery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